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A1628"/>
    <a:srgbClr val="0096B7"/>
    <a:srgbClr val="69829B"/>
    <a:srgbClr val="00B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810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D2604-8FFC-F8F4-7380-422F08C02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9A156E-58D1-7B0B-52BB-21352282C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5E81B-A630-A643-2BF3-614816067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AA3AC-F949-D683-5FFD-D3F6EED566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9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-bridge.biz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tel:+911244002096" TargetMode="External"/><Relationship Id="rId4" Type="http://schemas.openxmlformats.org/officeDocument/2006/relationships/hyperlink" Target="mailto:support@tech-bridge.biz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-bridge.biz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tel:+911244002096" TargetMode="External"/><Relationship Id="rId4" Type="http://schemas.openxmlformats.org/officeDocument/2006/relationships/hyperlink" Target="mailto:support@tech-bridge.biz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-bridge.biz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tel:+911244002096" TargetMode="External"/><Relationship Id="rId4" Type="http://schemas.openxmlformats.org/officeDocument/2006/relationships/hyperlink" Target="mailto:support@tech-bridge.biz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-bridge.biz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tel:+911244002096" TargetMode="External"/><Relationship Id="rId4" Type="http://schemas.openxmlformats.org/officeDocument/2006/relationships/hyperlink" Target="mailto:support@tech-bridge.biz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-bridge.biz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tel:+911244002096" TargetMode="External"/><Relationship Id="rId4" Type="http://schemas.openxmlformats.org/officeDocument/2006/relationships/hyperlink" Target="mailto:support@tech-bridge.biz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-bridge.biz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tel:+911244002096" TargetMode="External"/><Relationship Id="rId4" Type="http://schemas.openxmlformats.org/officeDocument/2006/relationships/hyperlink" Target="mailto:support@tech-bridge.biz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-bridge.biz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tel:+911244002096" TargetMode="External"/><Relationship Id="rId4" Type="http://schemas.openxmlformats.org/officeDocument/2006/relationships/hyperlink" Target="mailto:support@tech-bridge.biz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tel:+91124400209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tech-bridge.biz/" TargetMode="External"/><Relationship Id="rId4" Type="http://schemas.openxmlformats.org/officeDocument/2006/relationships/hyperlink" Target="mailto:support@tech-bridge.biz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3178A68-DC51-6074-910D-44E0BC3E9FB6}"/>
              </a:ext>
            </a:extLst>
          </p:cNvPr>
          <p:cNvGrpSpPr/>
          <p:nvPr/>
        </p:nvGrpSpPr>
        <p:grpSpPr>
          <a:xfrm>
            <a:off x="5943600" y="274320"/>
            <a:ext cx="2487168" cy="3255264"/>
            <a:chOff x="5943600" y="274320"/>
            <a:chExt cx="2487168" cy="3255264"/>
          </a:xfrm>
          <a:solidFill>
            <a:srgbClr val="00B4D8"/>
          </a:solidFill>
        </p:grpSpPr>
        <p:sp>
          <p:nvSpPr>
            <p:cNvPr id="4" name="Shape 2"/>
            <p:cNvSpPr/>
            <p:nvPr/>
          </p:nvSpPr>
          <p:spPr>
            <a:xfrm>
              <a:off x="5943600" y="27432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Shape 3"/>
            <p:cNvSpPr/>
            <p:nvPr/>
          </p:nvSpPr>
          <p:spPr>
            <a:xfrm>
              <a:off x="6291072" y="27432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4"/>
            <p:cNvSpPr/>
            <p:nvPr/>
          </p:nvSpPr>
          <p:spPr>
            <a:xfrm>
              <a:off x="6638544" y="27432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Shape 5"/>
            <p:cNvSpPr/>
            <p:nvPr/>
          </p:nvSpPr>
          <p:spPr>
            <a:xfrm>
              <a:off x="6986016" y="27432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Shape 6"/>
            <p:cNvSpPr/>
            <p:nvPr/>
          </p:nvSpPr>
          <p:spPr>
            <a:xfrm>
              <a:off x="7333488" y="27432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Shape 7"/>
            <p:cNvSpPr/>
            <p:nvPr/>
          </p:nvSpPr>
          <p:spPr>
            <a:xfrm>
              <a:off x="7680960" y="27432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Shape 8"/>
            <p:cNvSpPr/>
            <p:nvPr/>
          </p:nvSpPr>
          <p:spPr>
            <a:xfrm>
              <a:off x="8028432" y="27432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Shape 9"/>
            <p:cNvSpPr/>
            <p:nvPr/>
          </p:nvSpPr>
          <p:spPr>
            <a:xfrm>
              <a:off x="8375904" y="27432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Shape 10"/>
            <p:cNvSpPr/>
            <p:nvPr/>
          </p:nvSpPr>
          <p:spPr>
            <a:xfrm>
              <a:off x="5943600" y="91440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Shape 11"/>
            <p:cNvSpPr/>
            <p:nvPr/>
          </p:nvSpPr>
          <p:spPr>
            <a:xfrm>
              <a:off x="6291072" y="91440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Shape 12"/>
            <p:cNvSpPr/>
            <p:nvPr/>
          </p:nvSpPr>
          <p:spPr>
            <a:xfrm>
              <a:off x="6638544" y="91440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Shape 13"/>
            <p:cNvSpPr/>
            <p:nvPr/>
          </p:nvSpPr>
          <p:spPr>
            <a:xfrm>
              <a:off x="6986016" y="91440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Shape 14"/>
            <p:cNvSpPr/>
            <p:nvPr/>
          </p:nvSpPr>
          <p:spPr>
            <a:xfrm>
              <a:off x="7333488" y="91440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Shape 15"/>
            <p:cNvSpPr/>
            <p:nvPr/>
          </p:nvSpPr>
          <p:spPr>
            <a:xfrm>
              <a:off x="7680960" y="91440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Shape 16"/>
            <p:cNvSpPr/>
            <p:nvPr/>
          </p:nvSpPr>
          <p:spPr>
            <a:xfrm>
              <a:off x="8028432" y="91440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Shape 17"/>
            <p:cNvSpPr/>
            <p:nvPr/>
          </p:nvSpPr>
          <p:spPr>
            <a:xfrm>
              <a:off x="8375904" y="91440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Shape 18"/>
            <p:cNvSpPr/>
            <p:nvPr/>
          </p:nvSpPr>
          <p:spPr>
            <a:xfrm>
              <a:off x="5943600" y="155448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Shape 19"/>
            <p:cNvSpPr/>
            <p:nvPr/>
          </p:nvSpPr>
          <p:spPr>
            <a:xfrm>
              <a:off x="6291072" y="155448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Shape 20"/>
            <p:cNvSpPr/>
            <p:nvPr/>
          </p:nvSpPr>
          <p:spPr>
            <a:xfrm>
              <a:off x="6638544" y="155448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Shape 21"/>
            <p:cNvSpPr/>
            <p:nvPr/>
          </p:nvSpPr>
          <p:spPr>
            <a:xfrm>
              <a:off x="6986016" y="155448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Shape 22"/>
            <p:cNvSpPr/>
            <p:nvPr/>
          </p:nvSpPr>
          <p:spPr>
            <a:xfrm>
              <a:off x="7333488" y="155448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Shape 23"/>
            <p:cNvSpPr/>
            <p:nvPr/>
          </p:nvSpPr>
          <p:spPr>
            <a:xfrm>
              <a:off x="7680960" y="155448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Shape 24"/>
            <p:cNvSpPr/>
            <p:nvPr/>
          </p:nvSpPr>
          <p:spPr>
            <a:xfrm>
              <a:off x="8028432" y="155448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Shape 25"/>
            <p:cNvSpPr/>
            <p:nvPr/>
          </p:nvSpPr>
          <p:spPr>
            <a:xfrm>
              <a:off x="8375904" y="155448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Shape 26"/>
            <p:cNvSpPr/>
            <p:nvPr/>
          </p:nvSpPr>
          <p:spPr>
            <a:xfrm>
              <a:off x="5943600" y="219456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Shape 27"/>
            <p:cNvSpPr/>
            <p:nvPr/>
          </p:nvSpPr>
          <p:spPr>
            <a:xfrm>
              <a:off x="6291072" y="219456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Shape 28"/>
            <p:cNvSpPr/>
            <p:nvPr/>
          </p:nvSpPr>
          <p:spPr>
            <a:xfrm>
              <a:off x="6638544" y="219456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Shape 29"/>
            <p:cNvSpPr/>
            <p:nvPr/>
          </p:nvSpPr>
          <p:spPr>
            <a:xfrm>
              <a:off x="6986016" y="219456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Shape 30"/>
            <p:cNvSpPr/>
            <p:nvPr/>
          </p:nvSpPr>
          <p:spPr>
            <a:xfrm>
              <a:off x="7333488" y="219456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Shape 31"/>
            <p:cNvSpPr/>
            <p:nvPr/>
          </p:nvSpPr>
          <p:spPr>
            <a:xfrm>
              <a:off x="7680960" y="219456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Shape 32"/>
            <p:cNvSpPr/>
            <p:nvPr/>
          </p:nvSpPr>
          <p:spPr>
            <a:xfrm>
              <a:off x="8028432" y="219456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Shape 33"/>
            <p:cNvSpPr/>
            <p:nvPr/>
          </p:nvSpPr>
          <p:spPr>
            <a:xfrm>
              <a:off x="8375904" y="219456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Shape 34"/>
            <p:cNvSpPr/>
            <p:nvPr/>
          </p:nvSpPr>
          <p:spPr>
            <a:xfrm>
              <a:off x="5943600" y="283464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Shape 35"/>
            <p:cNvSpPr/>
            <p:nvPr/>
          </p:nvSpPr>
          <p:spPr>
            <a:xfrm>
              <a:off x="6291072" y="283464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Shape 36"/>
            <p:cNvSpPr/>
            <p:nvPr/>
          </p:nvSpPr>
          <p:spPr>
            <a:xfrm>
              <a:off x="6638544" y="283464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Shape 37"/>
            <p:cNvSpPr/>
            <p:nvPr/>
          </p:nvSpPr>
          <p:spPr>
            <a:xfrm>
              <a:off x="6986016" y="283464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Shape 38"/>
            <p:cNvSpPr/>
            <p:nvPr/>
          </p:nvSpPr>
          <p:spPr>
            <a:xfrm>
              <a:off x="7333488" y="283464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Shape 39"/>
            <p:cNvSpPr/>
            <p:nvPr/>
          </p:nvSpPr>
          <p:spPr>
            <a:xfrm>
              <a:off x="7680960" y="283464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Shape 40"/>
            <p:cNvSpPr/>
            <p:nvPr/>
          </p:nvSpPr>
          <p:spPr>
            <a:xfrm>
              <a:off x="8028432" y="283464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Shape 41"/>
            <p:cNvSpPr/>
            <p:nvPr/>
          </p:nvSpPr>
          <p:spPr>
            <a:xfrm>
              <a:off x="8375904" y="283464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Shape 42"/>
            <p:cNvSpPr/>
            <p:nvPr/>
          </p:nvSpPr>
          <p:spPr>
            <a:xfrm>
              <a:off x="5943600" y="347472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Shape 43"/>
            <p:cNvSpPr/>
            <p:nvPr/>
          </p:nvSpPr>
          <p:spPr>
            <a:xfrm>
              <a:off x="6291072" y="347472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Shape 44"/>
            <p:cNvSpPr/>
            <p:nvPr/>
          </p:nvSpPr>
          <p:spPr>
            <a:xfrm>
              <a:off x="6638544" y="347472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Shape 45"/>
            <p:cNvSpPr/>
            <p:nvPr/>
          </p:nvSpPr>
          <p:spPr>
            <a:xfrm>
              <a:off x="6986016" y="347472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Shape 46"/>
            <p:cNvSpPr/>
            <p:nvPr/>
          </p:nvSpPr>
          <p:spPr>
            <a:xfrm>
              <a:off x="7333488" y="347472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Shape 47"/>
            <p:cNvSpPr/>
            <p:nvPr/>
          </p:nvSpPr>
          <p:spPr>
            <a:xfrm>
              <a:off x="7680960" y="347472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Shape 48"/>
            <p:cNvSpPr/>
            <p:nvPr/>
          </p:nvSpPr>
          <p:spPr>
            <a:xfrm>
              <a:off x="8028432" y="347472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Shape 49"/>
            <p:cNvSpPr/>
            <p:nvPr/>
          </p:nvSpPr>
          <p:spPr>
            <a:xfrm>
              <a:off x="8375904" y="3474720"/>
              <a:ext cx="54864" cy="54864"/>
            </a:xfrm>
            <a:prstGeom prst="ellipse">
              <a:avLst/>
            </a:prstGeom>
            <a:grpFill/>
            <a:ln w="19050">
              <a:solidFill>
                <a:srgbClr val="0A1628">
                  <a:alpha val="2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2" name="Shape 50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36558" y="1400831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 kern="0" spc="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tbSIEM</a:t>
            </a:r>
            <a:endParaRPr lang="en-US" sz="7000" dirty="0">
              <a:solidFill>
                <a:srgbClr val="0A1628"/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380508" y="2354136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Value Proposition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365760" y="2889504"/>
            <a:ext cx="41148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65760" y="302666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Threat Detection  •  SOC-in-a-Box  •  Built for India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65760" y="3840480"/>
            <a:ext cx="3840480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57200" y="391363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in Gartner Emerging Tech Impact Radar: India 2025</a:t>
            </a:r>
            <a:endParaRPr lang="en-US" sz="95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3C13849-FD27-6468-6C7B-912608648A53}"/>
              </a:ext>
            </a:extLst>
          </p:cNvPr>
          <p:cNvGrpSpPr/>
          <p:nvPr/>
        </p:nvGrpSpPr>
        <p:grpSpPr>
          <a:xfrm>
            <a:off x="0" y="4892040"/>
            <a:ext cx="9144000" cy="251460"/>
            <a:chOff x="0" y="4892040"/>
            <a:chExt cx="9144000" cy="251460"/>
          </a:xfrm>
        </p:grpSpPr>
        <p:sp>
          <p:nvSpPr>
            <p:cNvPr id="60" name="Shape 58"/>
            <p:cNvSpPr/>
            <p:nvPr/>
          </p:nvSpPr>
          <p:spPr>
            <a:xfrm>
              <a:off x="0" y="4892040"/>
              <a:ext cx="9144000" cy="251460"/>
            </a:xfrm>
            <a:prstGeom prst="rect">
              <a:avLst/>
            </a:prstGeom>
            <a:solidFill>
              <a:srgbClr val="112240"/>
            </a:solidFill>
            <a:ln w="12700">
              <a:solidFill>
                <a:srgbClr val="11224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Text 59"/>
            <p:cNvSpPr/>
            <p:nvPr/>
          </p:nvSpPr>
          <p:spPr>
            <a:xfrm>
              <a:off x="365760" y="4910328"/>
              <a:ext cx="8229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IN" sz="800" dirty="0">
                  <a:solidFill>
                    <a:srgbClr val="69829B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https://tech-bridge.biz/</a:t>
              </a:r>
              <a:r>
                <a:rPr lang="en-IN" sz="800" dirty="0">
                  <a:solidFill>
                    <a:srgbClr val="69829B"/>
                  </a:solidFill>
                </a:rPr>
                <a:t> </a:t>
              </a:r>
              <a:r>
                <a:rPr lang="en-US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|  </a:t>
              </a:r>
              <a:r>
                <a:rPr lang="en-IN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support@tech-bridge</a:t>
              </a:r>
              <a:r>
                <a:rPr lang="en-IN" sz="800" u="sng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.biz</a:t>
              </a:r>
              <a:r>
                <a:rPr lang="en-IN" sz="800" u="sng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|  </a:t>
              </a:r>
              <a:r>
                <a:rPr lang="en-IN" sz="800" dirty="0">
                  <a:solidFill>
                    <a:srgbClr val="69829B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+91-124-4002096</a:t>
              </a:r>
              <a:endParaRPr lang="en-US" sz="800" dirty="0">
                <a:solidFill>
                  <a:srgbClr val="69829B"/>
                </a:solidFill>
              </a:endParaRPr>
            </a:p>
          </p:txBody>
        </p:sp>
      </p:grpSp>
      <p:pic>
        <p:nvPicPr>
          <p:cNvPr id="1026" name="Picture 2" descr="TechBridge">
            <a:extLst>
              <a:ext uri="{FF2B5EF4-FFF2-40B4-BE49-F238E27FC236}">
                <a16:creationId xmlns:a16="http://schemas.microsoft.com/office/drawing/2014/main" id="{9EBF486C-1DC8-29CA-1429-931FEEAE3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280607"/>
            <a:ext cx="1205564" cy="891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 Is Broken</a:t>
            </a:r>
            <a:endParaRPr lang="en-US" sz="3500" dirty="0">
              <a:solidFill>
                <a:srgbClr val="0A1628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face 4 critical failures that leave them exposed: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627632"/>
            <a:ext cx="20299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0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20299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79222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9768" y="20423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9768" y="2398972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logs scattered across 10+ tools. No unified view, creating blind spots for attackers to exploit.</a:t>
            </a:r>
            <a:endParaRPr lang="en-US" sz="1600" dirty="0">
              <a:solidFill>
                <a:srgbClr val="0A1628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87168" y="1627632"/>
            <a:ext cx="20299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0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87168" y="1627632"/>
            <a:ext cx="20299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78608" y="179222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96896" y="20423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Overload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96896" y="2398972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teams drown in 1,00,000+ daily alerts. Real threats get buried in noise and hence are missed.</a:t>
            </a:r>
            <a:endParaRPr lang="en-US" sz="1600" dirty="0">
              <a:solidFill>
                <a:srgbClr val="0A1628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54296" y="1627632"/>
            <a:ext cx="20299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0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54296" y="1627632"/>
            <a:ext cx="20299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45736" y="179222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64024" y="20423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Detection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64024" y="2398972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breach detection time: 200+ days. Attackers operate undetected for months inside your network.</a:t>
            </a:r>
            <a:endParaRPr lang="en-US" sz="1600" dirty="0">
              <a:solidFill>
                <a:srgbClr val="0A1628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821424" y="1627632"/>
            <a:ext cx="20299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0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821424" y="1627632"/>
            <a:ext cx="20299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912864" y="179222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931152" y="20423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31152" y="2398972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CERT-In, RBI, ISO 27001 mandates demand proof of security but siloed tools can't generate it.</a:t>
            </a:r>
            <a:endParaRPr lang="en-US" sz="1600" dirty="0">
              <a:solidFill>
                <a:srgbClr val="0A1628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65760" y="49103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228AE41-5A1E-ECCA-8F08-B6EAAB99D10A}"/>
              </a:ext>
            </a:extLst>
          </p:cNvPr>
          <p:cNvGrpSpPr/>
          <p:nvPr/>
        </p:nvGrpSpPr>
        <p:grpSpPr>
          <a:xfrm>
            <a:off x="0" y="4892040"/>
            <a:ext cx="9144000" cy="251460"/>
            <a:chOff x="0" y="4892040"/>
            <a:chExt cx="9144000" cy="251460"/>
          </a:xfrm>
        </p:grpSpPr>
        <p:sp>
          <p:nvSpPr>
            <p:cNvPr id="30" name="Shape 58">
              <a:extLst>
                <a:ext uri="{FF2B5EF4-FFF2-40B4-BE49-F238E27FC236}">
                  <a16:creationId xmlns:a16="http://schemas.microsoft.com/office/drawing/2014/main" id="{BDC1F4C3-96C1-0B6C-DF76-2B045922948F}"/>
                </a:ext>
              </a:extLst>
            </p:cNvPr>
            <p:cNvSpPr/>
            <p:nvPr/>
          </p:nvSpPr>
          <p:spPr>
            <a:xfrm>
              <a:off x="0" y="4892040"/>
              <a:ext cx="9144000" cy="251460"/>
            </a:xfrm>
            <a:prstGeom prst="rect">
              <a:avLst/>
            </a:prstGeom>
            <a:solidFill>
              <a:srgbClr val="112240"/>
            </a:solidFill>
            <a:ln w="12700">
              <a:solidFill>
                <a:srgbClr val="11224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 59">
              <a:extLst>
                <a:ext uri="{FF2B5EF4-FFF2-40B4-BE49-F238E27FC236}">
                  <a16:creationId xmlns:a16="http://schemas.microsoft.com/office/drawing/2014/main" id="{9B74E4C3-3007-09B2-D01A-DB9938A46393}"/>
                </a:ext>
              </a:extLst>
            </p:cNvPr>
            <p:cNvSpPr/>
            <p:nvPr/>
          </p:nvSpPr>
          <p:spPr>
            <a:xfrm>
              <a:off x="365760" y="4910328"/>
              <a:ext cx="8229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IN" sz="800" dirty="0">
                  <a:solidFill>
                    <a:srgbClr val="69829B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https://tech-bridge.biz/</a:t>
              </a:r>
              <a:r>
                <a:rPr lang="en-IN" sz="800" dirty="0">
                  <a:solidFill>
                    <a:srgbClr val="69829B"/>
                  </a:solidFill>
                </a:rPr>
                <a:t> </a:t>
              </a:r>
              <a:r>
                <a:rPr lang="en-US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|  </a:t>
              </a:r>
              <a:r>
                <a:rPr lang="en-IN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support@tech-bridge</a:t>
              </a:r>
              <a:r>
                <a:rPr lang="en-IN" sz="800" u="sng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.biz</a:t>
              </a:r>
              <a:r>
                <a:rPr lang="en-IN" sz="800" u="sng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|  </a:t>
              </a:r>
              <a:r>
                <a:rPr lang="en-IN" sz="800" dirty="0">
                  <a:solidFill>
                    <a:srgbClr val="69829B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+91-124-4002096</a:t>
              </a:r>
              <a:endParaRPr lang="en-US" sz="800" dirty="0">
                <a:solidFill>
                  <a:srgbClr val="69829B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tbSIEM?</a:t>
            </a:r>
            <a:endParaRPr lang="en-US" sz="3500" dirty="0">
              <a:solidFill>
                <a:srgbClr val="0A1628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05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 AI-Powered SIEM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tbSIEM </a:t>
            </a:r>
            <a:r>
              <a:rPr lang="en-US" sz="16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TechBridge's flagship Security Information &amp; Event Management platform which is the nerve center of the CyberSIO SOC-in-a-Box.
It collects security data from every part of your enterprise that includes your servers, endpoints, cloud, OT. Then correlates it using AI/ML and delivers </a:t>
            </a:r>
            <a:r>
              <a:rPr lang="en-US" sz="1600" b="1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intelligence </a:t>
            </a:r>
            <a:r>
              <a:rPr lang="en-US" sz="16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SOC team in real time.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2" y="676656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3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2" y="676656"/>
            <a:ext cx="9144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2" y="7680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92042" y="11155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monitoring, AI correlation, UEBA &amp; MITRE ATT&amp;CK mapping across all enterprise data sources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09162" y="1865376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3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09162" y="1865376"/>
            <a:ext cx="9144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92042" y="19568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92042" y="230428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Risk-weighted alerts, behavioral analytics, threat intelligence enrichment via VirusTotal &amp; MISP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09162" y="3054096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3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09162" y="3054096"/>
            <a:ext cx="9144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92042" y="31455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92042" y="349300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playbooks via tbSOAR, 24×7 SOC enablement, CERT-In compliant forensic reporting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FB67423-BD45-A3FE-E344-412E345C0F9C}"/>
              </a:ext>
            </a:extLst>
          </p:cNvPr>
          <p:cNvGrpSpPr/>
          <p:nvPr/>
        </p:nvGrpSpPr>
        <p:grpSpPr>
          <a:xfrm>
            <a:off x="4709162" y="4135152"/>
            <a:ext cx="4160520" cy="274320"/>
            <a:chOff x="4663440" y="4442215"/>
            <a:chExt cx="4160520" cy="274320"/>
          </a:xfrm>
        </p:grpSpPr>
        <p:sp>
          <p:nvSpPr>
            <p:cNvPr id="21" name="Shape 19"/>
            <p:cNvSpPr/>
            <p:nvPr/>
          </p:nvSpPr>
          <p:spPr>
            <a:xfrm>
              <a:off x="4663440" y="4442215"/>
              <a:ext cx="4160520" cy="274320"/>
            </a:xfrm>
            <a:prstGeom prst="rect">
              <a:avLst/>
            </a:prstGeom>
            <a:solidFill>
              <a:srgbClr val="00B4D8">
                <a:alpha val="15000"/>
              </a:srgbClr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 20"/>
            <p:cNvSpPr/>
            <p:nvPr/>
          </p:nvSpPr>
          <p:spPr>
            <a:xfrm>
              <a:off x="4754880" y="4484393"/>
              <a:ext cx="3977640" cy="2103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48CAE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Deployment: On-Premises  |  Cloud  |  Hybrid  |  20K–1L EPS Capacity</a:t>
              </a:r>
              <a:endParaRPr lang="en-US" sz="9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571BCC6-7435-4095-ECA5-B605AEA0F8FE}"/>
              </a:ext>
            </a:extLst>
          </p:cNvPr>
          <p:cNvGrpSpPr/>
          <p:nvPr/>
        </p:nvGrpSpPr>
        <p:grpSpPr>
          <a:xfrm>
            <a:off x="0" y="4892040"/>
            <a:ext cx="9144000" cy="251460"/>
            <a:chOff x="0" y="4892040"/>
            <a:chExt cx="9144000" cy="251460"/>
          </a:xfrm>
        </p:grpSpPr>
        <p:sp>
          <p:nvSpPr>
            <p:cNvPr id="26" name="Shape 58">
              <a:extLst>
                <a:ext uri="{FF2B5EF4-FFF2-40B4-BE49-F238E27FC236}">
                  <a16:creationId xmlns:a16="http://schemas.microsoft.com/office/drawing/2014/main" id="{BEC5E6CA-AC6F-9222-225E-E7E7E8EF96F0}"/>
                </a:ext>
              </a:extLst>
            </p:cNvPr>
            <p:cNvSpPr/>
            <p:nvPr/>
          </p:nvSpPr>
          <p:spPr>
            <a:xfrm>
              <a:off x="0" y="4892040"/>
              <a:ext cx="9144000" cy="251460"/>
            </a:xfrm>
            <a:prstGeom prst="rect">
              <a:avLst/>
            </a:prstGeom>
            <a:solidFill>
              <a:srgbClr val="112240"/>
            </a:solidFill>
            <a:ln w="12700">
              <a:solidFill>
                <a:srgbClr val="11224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 59">
              <a:extLst>
                <a:ext uri="{FF2B5EF4-FFF2-40B4-BE49-F238E27FC236}">
                  <a16:creationId xmlns:a16="http://schemas.microsoft.com/office/drawing/2014/main" id="{1ABF474F-5714-AC2C-43C0-E0DF0A1E617C}"/>
                </a:ext>
              </a:extLst>
            </p:cNvPr>
            <p:cNvSpPr/>
            <p:nvPr/>
          </p:nvSpPr>
          <p:spPr>
            <a:xfrm>
              <a:off x="365760" y="4910328"/>
              <a:ext cx="8229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IN" sz="800" dirty="0">
                  <a:solidFill>
                    <a:srgbClr val="69829B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https://tech-bridge.biz/</a:t>
              </a:r>
              <a:r>
                <a:rPr lang="en-IN" sz="800" dirty="0">
                  <a:solidFill>
                    <a:srgbClr val="69829B"/>
                  </a:solidFill>
                </a:rPr>
                <a:t> </a:t>
              </a:r>
              <a:r>
                <a:rPr lang="en-US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|  </a:t>
              </a:r>
              <a:r>
                <a:rPr lang="en-IN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support@tech-bridge</a:t>
              </a:r>
              <a:r>
                <a:rPr lang="en-IN" sz="800" u="sng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.biz</a:t>
              </a:r>
              <a:r>
                <a:rPr lang="en-IN" sz="800" u="sng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|  </a:t>
              </a:r>
              <a:r>
                <a:rPr lang="en-IN" sz="800" dirty="0">
                  <a:solidFill>
                    <a:srgbClr val="69829B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+91-124-4002096</a:t>
              </a:r>
              <a:endParaRPr lang="en-US" sz="800" dirty="0">
                <a:solidFill>
                  <a:srgbClr val="69829B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Capabilities</a:t>
            </a:r>
            <a:endParaRPr lang="en-US" sz="3500" dirty="0">
              <a:solidFill>
                <a:srgbClr val="0A1628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05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correlation of logs from endpoints, servers, cloud &amp; OT.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 to 1L EPS at zero packet drops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05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3756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Threat Detection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71907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UEBA-powered anomaly detection learns normal behavior that includes  flags unusual logins, lateral movement &amp; insider threats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80760" y="11887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05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1792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Integration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71907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API integration with AWS (GuardDuty, CloudWatch), Azure AD, GCP, and Microsoft Office 365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05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59359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mapped to MITRE ATT&amp;CK framework. Analysts instantly understand attacker tactics &amp; techniques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0" y="30632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05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0" y="306324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3756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Built-In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37560" y="359359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templates: CERT-In, RBI, HIPAA, GDPR, PCI-DSS, NIST 800-53, ISO 27001, SOC 2 that are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80760" y="30632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05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080760" y="306324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1792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Automation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359359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tbSOAR integration that auto-triggers playbooks, escalates tickets (Jira/ServiceNow), executes containment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35DA135-A339-B6CA-D59C-C44CD83F3AB3}"/>
              </a:ext>
            </a:extLst>
          </p:cNvPr>
          <p:cNvGrpSpPr/>
          <p:nvPr/>
        </p:nvGrpSpPr>
        <p:grpSpPr>
          <a:xfrm>
            <a:off x="0" y="4892040"/>
            <a:ext cx="9144000" cy="251460"/>
            <a:chOff x="0" y="4892040"/>
            <a:chExt cx="9144000" cy="251460"/>
          </a:xfrm>
        </p:grpSpPr>
        <p:sp>
          <p:nvSpPr>
            <p:cNvPr id="32" name="Shape 58">
              <a:extLst>
                <a:ext uri="{FF2B5EF4-FFF2-40B4-BE49-F238E27FC236}">
                  <a16:creationId xmlns:a16="http://schemas.microsoft.com/office/drawing/2014/main" id="{257DD414-6461-03CC-6921-8BB216AF2AA0}"/>
                </a:ext>
              </a:extLst>
            </p:cNvPr>
            <p:cNvSpPr/>
            <p:nvPr/>
          </p:nvSpPr>
          <p:spPr>
            <a:xfrm>
              <a:off x="0" y="4892040"/>
              <a:ext cx="9144000" cy="251460"/>
            </a:xfrm>
            <a:prstGeom prst="rect">
              <a:avLst/>
            </a:prstGeom>
            <a:solidFill>
              <a:srgbClr val="112240"/>
            </a:solidFill>
            <a:ln w="12700">
              <a:solidFill>
                <a:srgbClr val="11224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 59">
              <a:extLst>
                <a:ext uri="{FF2B5EF4-FFF2-40B4-BE49-F238E27FC236}">
                  <a16:creationId xmlns:a16="http://schemas.microsoft.com/office/drawing/2014/main" id="{32EC56C8-3D08-3AA0-5502-46506A4815FB}"/>
                </a:ext>
              </a:extLst>
            </p:cNvPr>
            <p:cNvSpPr/>
            <p:nvPr/>
          </p:nvSpPr>
          <p:spPr>
            <a:xfrm>
              <a:off x="365760" y="4910328"/>
              <a:ext cx="8229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IN" sz="800" dirty="0">
                  <a:solidFill>
                    <a:srgbClr val="69829B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https://tech-bridge.biz/</a:t>
              </a:r>
              <a:r>
                <a:rPr lang="en-IN" sz="800" dirty="0">
                  <a:solidFill>
                    <a:srgbClr val="69829B"/>
                  </a:solidFill>
                </a:rPr>
                <a:t> </a:t>
              </a:r>
              <a:r>
                <a:rPr lang="en-US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|  </a:t>
              </a:r>
              <a:r>
                <a:rPr lang="en-IN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support@tech-bridge</a:t>
              </a:r>
              <a:r>
                <a:rPr lang="en-IN" sz="800" u="sng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.biz</a:t>
              </a:r>
              <a:r>
                <a:rPr lang="en-IN" sz="800" u="sng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|  </a:t>
              </a:r>
              <a:r>
                <a:rPr lang="en-IN" sz="800" dirty="0">
                  <a:solidFill>
                    <a:srgbClr val="69829B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+91-124-4002096</a:t>
              </a:r>
              <a:endParaRPr lang="en-US" sz="800" dirty="0">
                <a:solidFill>
                  <a:srgbClr val="69829B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FDDEE-EFCC-3A60-2B7B-413FA3596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FD6D7B-F6A8-1252-7D98-6D6321A72CD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73CC15-5AD3-E229-033F-7FAC340E41C3}"/>
              </a:ext>
            </a:extLst>
          </p:cNvPr>
          <p:cNvSpPr/>
          <p:nvPr/>
        </p:nvSpPr>
        <p:spPr>
          <a:xfrm>
            <a:off x="365760" y="201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42D19E-5C25-FA54-96ED-7EDC46CFA9C4}"/>
              </a:ext>
            </a:extLst>
          </p:cNvPr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tbSIEM Over Global Giants?</a:t>
            </a:r>
            <a:endParaRPr lang="en-US" sz="3500" dirty="0">
              <a:solidFill>
                <a:srgbClr val="0A1628"/>
              </a:solidFill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1D820CAA-4936-AD47-7F1D-6CC7BFEA6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78243"/>
              </p:ext>
            </p:extLst>
          </p:nvPr>
        </p:nvGraphicFramePr>
        <p:xfrm>
          <a:off x="365760" y="1146538"/>
          <a:ext cx="7893335" cy="30798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927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8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4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44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7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rgbClr val="6982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Splunk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rgbClr val="6982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IBM QRadar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rgbClr val="6982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MS Sentinel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rgbClr val="6982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tbSIEM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Pricing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rgbClr val="6982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~$400K–800K/yr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~$10K+/yr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Pay-per-GB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8CAE4"/>
                          </a:solidFill>
                        </a:rPr>
                        <a:t>Fixed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India Compliance</a:t>
                      </a:r>
                      <a:endParaRPr lang="en-US" sz="1200" dirty="0"/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(CERT-In, RBI)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rgbClr val="6982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Add-on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Add-on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Add-on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8CAE4"/>
                          </a:solidFill>
                        </a:rPr>
                        <a:t>Built-in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Deployment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rgbClr val="6982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6–12 months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3–6 months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2–4 months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8CAE4"/>
                          </a:solidFill>
                        </a:rPr>
                        <a:t>Weeks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On-Prem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rgbClr val="6982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Limited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Yes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Cloud-only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8CAE4"/>
                          </a:solidFill>
                        </a:rPr>
                        <a:t>Full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SOC-in-a-Box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rgbClr val="6982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8CAE4"/>
                          </a:solidFill>
                        </a:rPr>
                        <a:t>Native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7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EPS at Fixed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rgbClr val="6982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Costs escalate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Costs escalate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Costs escalate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8CAE4"/>
                          </a:solidFill>
                        </a:rPr>
                        <a:t>Fixed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3">
            <a:extLst>
              <a:ext uri="{FF2B5EF4-FFF2-40B4-BE49-F238E27FC236}">
                <a16:creationId xmlns:a16="http://schemas.microsoft.com/office/drawing/2014/main" id="{CF1EE7CE-6B13-C296-7172-9FF715FF7296}"/>
              </a:ext>
            </a:extLst>
          </p:cNvPr>
          <p:cNvSpPr/>
          <p:nvPr/>
        </p:nvSpPr>
        <p:spPr>
          <a:xfrm>
            <a:off x="320040" y="4343400"/>
            <a:ext cx="8503920" cy="41148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CE9B7D4-2BFD-DE86-CCA3-6B665505088B}"/>
              </a:ext>
            </a:extLst>
          </p:cNvPr>
          <p:cNvSpPr/>
          <p:nvPr/>
        </p:nvSpPr>
        <p:spPr>
          <a:xfrm>
            <a:off x="502920" y="4379976"/>
            <a:ext cx="8229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tbSIEM delivers enterprise-grade security at a fraction of the cost — purpose-built for Indian enterprises, PSUs, and regulated industries.</a:t>
            </a:r>
            <a:endParaRPr lang="en-US" sz="11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6915AA-D8FB-89EE-4D72-F67562F86D24}"/>
              </a:ext>
            </a:extLst>
          </p:cNvPr>
          <p:cNvGrpSpPr/>
          <p:nvPr/>
        </p:nvGrpSpPr>
        <p:grpSpPr>
          <a:xfrm>
            <a:off x="0" y="4892040"/>
            <a:ext cx="9144000" cy="251460"/>
            <a:chOff x="0" y="4892040"/>
            <a:chExt cx="9144000" cy="251460"/>
          </a:xfrm>
        </p:grpSpPr>
        <p:sp>
          <p:nvSpPr>
            <p:cNvPr id="11" name="Shape 58">
              <a:extLst>
                <a:ext uri="{FF2B5EF4-FFF2-40B4-BE49-F238E27FC236}">
                  <a16:creationId xmlns:a16="http://schemas.microsoft.com/office/drawing/2014/main" id="{62C2F243-DF2D-64BE-4634-980E50FE5599}"/>
                </a:ext>
              </a:extLst>
            </p:cNvPr>
            <p:cNvSpPr/>
            <p:nvPr/>
          </p:nvSpPr>
          <p:spPr>
            <a:xfrm>
              <a:off x="0" y="4892040"/>
              <a:ext cx="9144000" cy="251460"/>
            </a:xfrm>
            <a:prstGeom prst="rect">
              <a:avLst/>
            </a:prstGeom>
            <a:solidFill>
              <a:srgbClr val="112240"/>
            </a:solidFill>
            <a:ln w="12700">
              <a:solidFill>
                <a:srgbClr val="11224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59">
              <a:extLst>
                <a:ext uri="{FF2B5EF4-FFF2-40B4-BE49-F238E27FC236}">
                  <a16:creationId xmlns:a16="http://schemas.microsoft.com/office/drawing/2014/main" id="{3D48BAA9-916D-F6BB-5466-4BE9F856BFFB}"/>
                </a:ext>
              </a:extLst>
            </p:cNvPr>
            <p:cNvSpPr/>
            <p:nvPr/>
          </p:nvSpPr>
          <p:spPr>
            <a:xfrm>
              <a:off x="365760" y="4910328"/>
              <a:ext cx="8229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IN" sz="800" dirty="0">
                  <a:solidFill>
                    <a:srgbClr val="69829B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https://tech-bridge.biz/</a:t>
              </a:r>
              <a:r>
                <a:rPr lang="en-IN" sz="800" dirty="0">
                  <a:solidFill>
                    <a:srgbClr val="69829B"/>
                  </a:solidFill>
                </a:rPr>
                <a:t> </a:t>
              </a:r>
              <a:r>
                <a:rPr lang="en-US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|  </a:t>
              </a:r>
              <a:r>
                <a:rPr lang="en-IN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support@tech-bridge</a:t>
              </a:r>
              <a:r>
                <a:rPr lang="en-IN" sz="800" u="sng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.biz</a:t>
              </a:r>
              <a:r>
                <a:rPr lang="en-IN" sz="800" u="sng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|  </a:t>
              </a:r>
              <a:r>
                <a:rPr lang="en-IN" sz="800" dirty="0">
                  <a:solidFill>
                    <a:srgbClr val="69829B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+91-124-4002096</a:t>
              </a:r>
              <a:endParaRPr lang="en-US" sz="800" dirty="0">
                <a:solidFill>
                  <a:srgbClr val="69829B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2375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THE FIELD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Government of India PSU</a:t>
            </a:r>
            <a:endParaRPr lang="en-US" sz="3500" dirty="0">
              <a:solidFill>
                <a:srgbClr val="0A1628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275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States  •  45,000+ Employees  •  7 Data Centers  •  3,500+ Field Offices  •  40,000 EPS Deployment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1371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13716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80136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2503907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</a:t>
            </a:r>
            <a:endParaRPr lang="en-US" sz="1200" dirty="0">
              <a:solidFill>
                <a:srgbClr val="0A1628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29443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hrs → 2.9 hrs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83080" y="1691640"/>
            <a:ext cx="1371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783080" y="1691640"/>
            <a:ext cx="1371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828800" y="180136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828800" y="2503907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Cut</a:t>
            </a:r>
            <a:endParaRPr lang="en-US" sz="1200" dirty="0">
              <a:solidFill>
                <a:srgbClr val="0A1628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28800" y="29443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eliminated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1691640"/>
            <a:ext cx="1371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46120" y="1691640"/>
            <a:ext cx="1371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91840" y="180136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291840" y="2503907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Attacks</a:t>
            </a:r>
            <a:endParaRPr lang="en-US" sz="1200" dirty="0">
              <a:solidFill>
                <a:srgbClr val="0A1628"/>
              </a:solidFill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200" dirty="0">
              <a:solidFill>
                <a:srgbClr val="0A1628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91840" y="29443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first 90 days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1691640"/>
            <a:ext cx="1371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09160" y="1691640"/>
            <a:ext cx="1371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54880" y="180136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754880" y="2503907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 Compliance</a:t>
            </a:r>
            <a:endParaRPr lang="en-US" sz="1200" dirty="0">
              <a:solidFill>
                <a:srgbClr val="0A1628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54880" y="29443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from day 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1691640"/>
            <a:ext cx="1371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172200" y="1691640"/>
            <a:ext cx="1371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217920" y="180136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4,600+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217920" y="2503907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Sources</a:t>
            </a:r>
            <a:endParaRPr lang="en-US" sz="1200" dirty="0">
              <a:solidFill>
                <a:srgbClr val="0A1628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17920" y="29443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 one platform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35240" y="1726667"/>
            <a:ext cx="1371600" cy="1885213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635240" y="1691640"/>
            <a:ext cx="1371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680960" y="180136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7680960" y="246888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Drops</a:t>
            </a:r>
            <a:endParaRPr lang="en-US" sz="1200" dirty="0">
              <a:solidFill>
                <a:srgbClr val="0A1628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7680960" y="29443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42,700 EPS peak load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3749040"/>
            <a:ext cx="8275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20040" y="3749040"/>
            <a:ext cx="73152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36554" y="382219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solution has delivered deep visibility across our nationwide environment. CERT-In compliant monitoring and automated threat containment have significantly reduced security risk for our citizen-facing services."</a:t>
            </a:r>
            <a:endParaRPr lang="en-US" sz="1400" dirty="0">
              <a:solidFill>
                <a:srgbClr val="0A1628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628283" y="4296795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IT Leadership, Government of India PSU</a:t>
            </a:r>
            <a:endParaRPr lang="en-US" sz="11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4651BFE-0A30-8A0A-0B31-91898CB68FA5}"/>
              </a:ext>
            </a:extLst>
          </p:cNvPr>
          <p:cNvGrpSpPr/>
          <p:nvPr/>
        </p:nvGrpSpPr>
        <p:grpSpPr>
          <a:xfrm>
            <a:off x="0" y="4892040"/>
            <a:ext cx="9144000" cy="251460"/>
            <a:chOff x="0" y="4892040"/>
            <a:chExt cx="9144000" cy="251460"/>
          </a:xfrm>
        </p:grpSpPr>
        <p:sp>
          <p:nvSpPr>
            <p:cNvPr id="44" name="Shape 58">
              <a:extLst>
                <a:ext uri="{FF2B5EF4-FFF2-40B4-BE49-F238E27FC236}">
                  <a16:creationId xmlns:a16="http://schemas.microsoft.com/office/drawing/2014/main" id="{08BEA9AD-1FBC-D9A8-9239-A4B97AA2D94E}"/>
                </a:ext>
              </a:extLst>
            </p:cNvPr>
            <p:cNvSpPr/>
            <p:nvPr/>
          </p:nvSpPr>
          <p:spPr>
            <a:xfrm>
              <a:off x="0" y="4892040"/>
              <a:ext cx="9144000" cy="251460"/>
            </a:xfrm>
            <a:prstGeom prst="rect">
              <a:avLst/>
            </a:prstGeom>
            <a:solidFill>
              <a:srgbClr val="112240"/>
            </a:solidFill>
            <a:ln w="12700">
              <a:solidFill>
                <a:srgbClr val="11224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 59">
              <a:extLst>
                <a:ext uri="{FF2B5EF4-FFF2-40B4-BE49-F238E27FC236}">
                  <a16:creationId xmlns:a16="http://schemas.microsoft.com/office/drawing/2014/main" id="{3A22B944-3E12-D147-3861-5B2084C1C531}"/>
                </a:ext>
              </a:extLst>
            </p:cNvPr>
            <p:cNvSpPr/>
            <p:nvPr/>
          </p:nvSpPr>
          <p:spPr>
            <a:xfrm>
              <a:off x="365760" y="4910328"/>
              <a:ext cx="8229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IN" sz="800" dirty="0">
                  <a:solidFill>
                    <a:srgbClr val="69829B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https://tech-bridge.biz/</a:t>
              </a:r>
              <a:r>
                <a:rPr lang="en-IN" sz="800" dirty="0">
                  <a:solidFill>
                    <a:srgbClr val="69829B"/>
                  </a:solidFill>
                </a:rPr>
                <a:t> </a:t>
              </a:r>
              <a:r>
                <a:rPr lang="en-US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|  </a:t>
              </a:r>
              <a:r>
                <a:rPr lang="en-IN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support@tech-bridge</a:t>
              </a:r>
              <a:r>
                <a:rPr lang="en-IN" sz="800" u="sng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.biz</a:t>
              </a:r>
              <a:r>
                <a:rPr lang="en-IN" sz="800" u="sng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|  </a:t>
              </a:r>
              <a:r>
                <a:rPr lang="en-IN" sz="800" dirty="0">
                  <a:solidFill>
                    <a:srgbClr val="69829B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+91-124-4002096</a:t>
              </a:r>
              <a:endParaRPr lang="en-US" sz="800" dirty="0">
                <a:solidFill>
                  <a:srgbClr val="69829B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CyberSIO SOC-in-a-Box</a:t>
            </a:r>
            <a:endParaRPr lang="en-US" sz="3500" dirty="0">
              <a:solidFill>
                <a:srgbClr val="0A1628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081056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competitors that require 6+ separate tools, CyberSIO delivers a complete, pre-integrated SOC platform: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2120818"/>
            <a:ext cx="265176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46120" y="21267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tbSIEM</a:t>
            </a:r>
            <a:endParaRPr lang="en-US" sz="2500" dirty="0"/>
          </a:p>
          <a:p>
            <a:pPr marL="0" indent="0" algn="ctr">
              <a:buNone/>
            </a:pPr>
            <a:r>
              <a:rPr lang="en-US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ANALYTICS ENGINE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0040" y="171966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1719662"/>
            <a:ext cx="2011680" cy="457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181110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tbSOAR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140286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Orchestration</a:t>
            </a:r>
            <a:endParaRPr lang="en-US" sz="1300" dirty="0">
              <a:solidFill>
                <a:srgbClr val="0A1628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Automation</a:t>
            </a:r>
            <a:endParaRPr lang="en-US" sz="1300" dirty="0">
              <a:solidFill>
                <a:srgbClr val="0A1628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304554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" y="3045542"/>
            <a:ext cx="2011680" cy="457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313698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tbUEBA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466166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Entity</a:t>
            </a:r>
            <a:endParaRPr lang="en-US" sz="1300" dirty="0">
              <a:solidFill>
                <a:srgbClr val="0A1628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Analytics</a:t>
            </a:r>
            <a:endParaRPr lang="en-US" sz="1300" dirty="0">
              <a:solidFill>
                <a:srgbClr val="0A1628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12280" y="171966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812280" y="1719662"/>
            <a:ext cx="2011680" cy="457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03720" y="181110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tbIAM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2140286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</a:t>
            </a:r>
            <a:endParaRPr lang="en-US" sz="1300" dirty="0">
              <a:solidFill>
                <a:srgbClr val="0A1628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Management</a:t>
            </a:r>
            <a:endParaRPr lang="en-US" sz="1300" dirty="0">
              <a:solidFill>
                <a:srgbClr val="0A1628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12280" y="304554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812280" y="3045542"/>
            <a:ext cx="2011680" cy="457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903720" y="313698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tbPAM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3466166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</a:t>
            </a:r>
            <a:endParaRPr lang="en-US" sz="1300" dirty="0">
              <a:solidFill>
                <a:srgbClr val="0A1628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Management</a:t>
            </a:r>
            <a:endParaRPr lang="en-US" sz="1300" dirty="0">
              <a:solidFill>
                <a:srgbClr val="0A1628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46120" y="3594182"/>
            <a:ext cx="1508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46120" y="3594182"/>
            <a:ext cx="1508760" cy="457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37560" y="368562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tbNAC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401480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 Control</a:t>
            </a:r>
            <a:endParaRPr lang="en-US" sz="1300" dirty="0">
              <a:solidFill>
                <a:srgbClr val="0A1628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46320" y="3594182"/>
            <a:ext cx="1508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46320" y="3594182"/>
            <a:ext cx="1508760" cy="457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37760" y="368562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tbPatchMgr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01480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&amp; Vulnerability</a:t>
            </a:r>
            <a:endParaRPr lang="en-US" sz="1300" dirty="0">
              <a:solidFill>
                <a:srgbClr val="0A1628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300" dirty="0">
              <a:solidFill>
                <a:srgbClr val="0A1628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331720" y="2222582"/>
            <a:ext cx="914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331720" y="3614829"/>
            <a:ext cx="914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897880" y="2222582"/>
            <a:ext cx="914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897880" y="3622206"/>
            <a:ext cx="914400" cy="0"/>
          </a:xfrm>
          <a:prstGeom prst="line">
            <a:avLst/>
          </a:prstGeom>
          <a:noFill/>
          <a:ln w="12700">
            <a:solidFill>
              <a:srgbClr val="0096B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FAADC37-D07B-7A0A-58BB-C8682589B988}"/>
              </a:ext>
            </a:extLst>
          </p:cNvPr>
          <p:cNvGrpSpPr/>
          <p:nvPr/>
        </p:nvGrpSpPr>
        <p:grpSpPr>
          <a:xfrm>
            <a:off x="0" y="4892040"/>
            <a:ext cx="9144000" cy="251460"/>
            <a:chOff x="0" y="4892040"/>
            <a:chExt cx="9144000" cy="251460"/>
          </a:xfrm>
        </p:grpSpPr>
        <p:sp>
          <p:nvSpPr>
            <p:cNvPr id="39" name="Shape 58">
              <a:extLst>
                <a:ext uri="{FF2B5EF4-FFF2-40B4-BE49-F238E27FC236}">
                  <a16:creationId xmlns:a16="http://schemas.microsoft.com/office/drawing/2014/main" id="{40795888-6A0B-1EC7-9E15-6758EE8C6D5A}"/>
                </a:ext>
              </a:extLst>
            </p:cNvPr>
            <p:cNvSpPr/>
            <p:nvPr/>
          </p:nvSpPr>
          <p:spPr>
            <a:xfrm>
              <a:off x="0" y="4892040"/>
              <a:ext cx="9144000" cy="251460"/>
            </a:xfrm>
            <a:prstGeom prst="rect">
              <a:avLst/>
            </a:prstGeom>
            <a:solidFill>
              <a:srgbClr val="112240"/>
            </a:solidFill>
            <a:ln w="12700">
              <a:solidFill>
                <a:srgbClr val="11224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 59">
              <a:extLst>
                <a:ext uri="{FF2B5EF4-FFF2-40B4-BE49-F238E27FC236}">
                  <a16:creationId xmlns:a16="http://schemas.microsoft.com/office/drawing/2014/main" id="{ED049938-4EF3-6E16-096D-EB9FD53C018B}"/>
                </a:ext>
              </a:extLst>
            </p:cNvPr>
            <p:cNvSpPr/>
            <p:nvPr/>
          </p:nvSpPr>
          <p:spPr>
            <a:xfrm>
              <a:off x="365760" y="4910328"/>
              <a:ext cx="8229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IN" sz="800" dirty="0">
                  <a:solidFill>
                    <a:srgbClr val="69829B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https://tech-bridge.biz/</a:t>
              </a:r>
              <a:r>
                <a:rPr lang="en-IN" sz="800" dirty="0">
                  <a:solidFill>
                    <a:srgbClr val="69829B"/>
                  </a:solidFill>
                </a:rPr>
                <a:t> </a:t>
              </a:r>
              <a:r>
                <a:rPr lang="en-US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|  </a:t>
              </a:r>
              <a:r>
                <a:rPr lang="en-IN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support@tech-bridge</a:t>
              </a:r>
              <a:r>
                <a:rPr lang="en-IN" sz="800" u="sng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.biz</a:t>
              </a:r>
              <a:r>
                <a:rPr lang="en-IN" sz="800" u="sng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|  </a:t>
              </a:r>
              <a:r>
                <a:rPr lang="en-IN" sz="800" dirty="0">
                  <a:solidFill>
                    <a:srgbClr val="69829B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+91-124-4002096</a:t>
              </a:r>
              <a:endParaRPr lang="en-US" sz="800" dirty="0">
                <a:solidFill>
                  <a:srgbClr val="69829B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455D996-DE3B-1AAD-EA09-EBDCAE0AE32F}"/>
              </a:ext>
            </a:extLst>
          </p:cNvPr>
          <p:cNvGrpSpPr/>
          <p:nvPr/>
        </p:nvGrpSpPr>
        <p:grpSpPr>
          <a:xfrm>
            <a:off x="6319418" y="442452"/>
            <a:ext cx="2339094" cy="1447702"/>
            <a:chOff x="6217920" y="2651760"/>
            <a:chExt cx="2075688" cy="1252728"/>
          </a:xfrm>
        </p:grpSpPr>
        <p:sp>
          <p:nvSpPr>
            <p:cNvPr id="23" name="Shape 21"/>
            <p:cNvSpPr/>
            <p:nvPr/>
          </p:nvSpPr>
          <p:spPr>
            <a:xfrm>
              <a:off x="6217920" y="2651760"/>
              <a:ext cx="64008" cy="64008"/>
            </a:xfrm>
            <a:prstGeom prst="ellipse">
              <a:avLst/>
            </a:prstGeom>
            <a:solidFill>
              <a:srgbClr val="00B4D8">
                <a:alpha val="20000"/>
              </a:srgbClr>
            </a:solidFill>
            <a:ln w="12700">
              <a:solidFill>
                <a:srgbClr val="00B4D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Shape 22"/>
            <p:cNvSpPr/>
            <p:nvPr/>
          </p:nvSpPr>
          <p:spPr>
            <a:xfrm>
              <a:off x="6720840" y="2651760"/>
              <a:ext cx="64008" cy="64008"/>
            </a:xfrm>
            <a:prstGeom prst="ellipse">
              <a:avLst/>
            </a:prstGeom>
            <a:solidFill>
              <a:srgbClr val="00B4D8">
                <a:alpha val="20000"/>
              </a:srgbClr>
            </a:solidFill>
            <a:ln w="12700">
              <a:solidFill>
                <a:srgbClr val="00B4D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Shape 23"/>
            <p:cNvSpPr/>
            <p:nvPr/>
          </p:nvSpPr>
          <p:spPr>
            <a:xfrm>
              <a:off x="7223760" y="2651760"/>
              <a:ext cx="64008" cy="64008"/>
            </a:xfrm>
            <a:prstGeom prst="ellipse">
              <a:avLst/>
            </a:prstGeom>
            <a:solidFill>
              <a:srgbClr val="00B4D8">
                <a:alpha val="20000"/>
              </a:srgbClr>
            </a:solidFill>
            <a:ln w="12700">
              <a:solidFill>
                <a:srgbClr val="00B4D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Shape 24"/>
            <p:cNvSpPr/>
            <p:nvPr/>
          </p:nvSpPr>
          <p:spPr>
            <a:xfrm>
              <a:off x="7726680" y="2651760"/>
              <a:ext cx="64008" cy="64008"/>
            </a:xfrm>
            <a:prstGeom prst="ellipse">
              <a:avLst/>
            </a:prstGeom>
            <a:solidFill>
              <a:srgbClr val="00B4D8">
                <a:alpha val="20000"/>
              </a:srgbClr>
            </a:solidFill>
            <a:ln w="12700">
              <a:solidFill>
                <a:srgbClr val="00B4D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Shape 25"/>
            <p:cNvSpPr/>
            <p:nvPr/>
          </p:nvSpPr>
          <p:spPr>
            <a:xfrm>
              <a:off x="8229600" y="2651760"/>
              <a:ext cx="64008" cy="64008"/>
            </a:xfrm>
            <a:prstGeom prst="ellipse">
              <a:avLst/>
            </a:prstGeom>
            <a:solidFill>
              <a:srgbClr val="00B4D8">
                <a:alpha val="20000"/>
              </a:srgbClr>
            </a:solidFill>
            <a:ln w="12700">
              <a:solidFill>
                <a:srgbClr val="00B4D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Shape 26"/>
            <p:cNvSpPr/>
            <p:nvPr/>
          </p:nvSpPr>
          <p:spPr>
            <a:xfrm>
              <a:off x="6217920" y="3246120"/>
              <a:ext cx="64008" cy="64008"/>
            </a:xfrm>
            <a:prstGeom prst="ellipse">
              <a:avLst/>
            </a:prstGeom>
            <a:solidFill>
              <a:srgbClr val="00B4D8">
                <a:alpha val="20000"/>
              </a:srgbClr>
            </a:solidFill>
            <a:ln w="12700">
              <a:solidFill>
                <a:srgbClr val="00B4D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Shape 27"/>
            <p:cNvSpPr/>
            <p:nvPr/>
          </p:nvSpPr>
          <p:spPr>
            <a:xfrm>
              <a:off x="6720840" y="3246120"/>
              <a:ext cx="64008" cy="64008"/>
            </a:xfrm>
            <a:prstGeom prst="ellipse">
              <a:avLst/>
            </a:prstGeom>
            <a:solidFill>
              <a:srgbClr val="00B4D8">
                <a:alpha val="20000"/>
              </a:srgbClr>
            </a:solidFill>
            <a:ln w="12700">
              <a:solidFill>
                <a:srgbClr val="00B4D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Shape 28"/>
            <p:cNvSpPr/>
            <p:nvPr/>
          </p:nvSpPr>
          <p:spPr>
            <a:xfrm>
              <a:off x="7223760" y="3246120"/>
              <a:ext cx="64008" cy="64008"/>
            </a:xfrm>
            <a:prstGeom prst="ellipse">
              <a:avLst/>
            </a:prstGeom>
            <a:solidFill>
              <a:srgbClr val="00B4D8">
                <a:alpha val="20000"/>
              </a:srgbClr>
            </a:solidFill>
            <a:ln w="12700">
              <a:solidFill>
                <a:srgbClr val="00B4D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Shape 29"/>
            <p:cNvSpPr/>
            <p:nvPr/>
          </p:nvSpPr>
          <p:spPr>
            <a:xfrm>
              <a:off x="7726680" y="3246120"/>
              <a:ext cx="64008" cy="64008"/>
            </a:xfrm>
            <a:prstGeom prst="ellipse">
              <a:avLst/>
            </a:prstGeom>
            <a:solidFill>
              <a:srgbClr val="00B4D8">
                <a:alpha val="20000"/>
              </a:srgbClr>
            </a:solidFill>
            <a:ln w="12700">
              <a:solidFill>
                <a:srgbClr val="00B4D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Shape 30"/>
            <p:cNvSpPr/>
            <p:nvPr/>
          </p:nvSpPr>
          <p:spPr>
            <a:xfrm>
              <a:off x="8229600" y="3246120"/>
              <a:ext cx="64008" cy="64008"/>
            </a:xfrm>
            <a:prstGeom prst="ellipse">
              <a:avLst/>
            </a:prstGeom>
            <a:solidFill>
              <a:srgbClr val="00B4D8">
                <a:alpha val="20000"/>
              </a:srgbClr>
            </a:solidFill>
            <a:ln w="12700">
              <a:solidFill>
                <a:srgbClr val="00B4D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Shape 31"/>
            <p:cNvSpPr/>
            <p:nvPr/>
          </p:nvSpPr>
          <p:spPr>
            <a:xfrm>
              <a:off x="6217920" y="3840480"/>
              <a:ext cx="64008" cy="64008"/>
            </a:xfrm>
            <a:prstGeom prst="ellipse">
              <a:avLst/>
            </a:prstGeom>
            <a:solidFill>
              <a:srgbClr val="00B4D8">
                <a:alpha val="20000"/>
              </a:srgbClr>
            </a:solidFill>
            <a:ln w="12700">
              <a:solidFill>
                <a:srgbClr val="00B4D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Shape 32"/>
            <p:cNvSpPr/>
            <p:nvPr/>
          </p:nvSpPr>
          <p:spPr>
            <a:xfrm>
              <a:off x="6720840" y="3840480"/>
              <a:ext cx="64008" cy="64008"/>
            </a:xfrm>
            <a:prstGeom prst="ellipse">
              <a:avLst/>
            </a:prstGeom>
            <a:solidFill>
              <a:srgbClr val="00B4D8">
                <a:alpha val="20000"/>
              </a:srgbClr>
            </a:solidFill>
            <a:ln w="12700">
              <a:solidFill>
                <a:srgbClr val="00B4D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Shape 33"/>
            <p:cNvSpPr/>
            <p:nvPr/>
          </p:nvSpPr>
          <p:spPr>
            <a:xfrm>
              <a:off x="7223760" y="3840480"/>
              <a:ext cx="64008" cy="64008"/>
            </a:xfrm>
            <a:prstGeom prst="ellipse">
              <a:avLst/>
            </a:prstGeom>
            <a:solidFill>
              <a:srgbClr val="00B4D8">
                <a:alpha val="20000"/>
              </a:srgbClr>
            </a:solidFill>
            <a:ln w="12700">
              <a:solidFill>
                <a:srgbClr val="00B4D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Shape 34"/>
            <p:cNvSpPr/>
            <p:nvPr/>
          </p:nvSpPr>
          <p:spPr>
            <a:xfrm>
              <a:off x="7726680" y="3840480"/>
              <a:ext cx="64008" cy="64008"/>
            </a:xfrm>
            <a:prstGeom prst="ellipse">
              <a:avLst/>
            </a:prstGeom>
            <a:solidFill>
              <a:srgbClr val="00B4D8">
                <a:alpha val="20000"/>
              </a:srgbClr>
            </a:solidFill>
            <a:ln w="12700">
              <a:solidFill>
                <a:srgbClr val="00B4D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Shape 35"/>
            <p:cNvSpPr/>
            <p:nvPr/>
          </p:nvSpPr>
          <p:spPr>
            <a:xfrm>
              <a:off x="8229600" y="3840480"/>
              <a:ext cx="64008" cy="64008"/>
            </a:xfrm>
            <a:prstGeom prst="ellipse">
              <a:avLst/>
            </a:prstGeom>
            <a:solidFill>
              <a:srgbClr val="00B4D8">
                <a:alpha val="20000"/>
              </a:srgbClr>
            </a:solidFill>
            <a:ln w="12700">
              <a:solidFill>
                <a:srgbClr val="00B4D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8" name="Shape 36"/>
          <p:cNvSpPr/>
          <p:nvPr/>
        </p:nvSpPr>
        <p:spPr>
          <a:xfrm>
            <a:off x="6217920" y="4434840"/>
            <a:ext cx="64008" cy="64008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720840" y="4434840"/>
            <a:ext cx="64008" cy="64008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223760" y="4434840"/>
            <a:ext cx="64008" cy="64008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726680" y="4434840"/>
            <a:ext cx="64008" cy="64008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8229600" y="4434840"/>
            <a:ext cx="64008" cy="64008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6576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59436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Secure Your</a:t>
            </a:r>
            <a:endParaRPr lang="en-US" sz="3500" dirty="0">
              <a:solidFill>
                <a:srgbClr val="0A1628"/>
              </a:solidFill>
            </a:endParaRPr>
          </a:p>
          <a:p>
            <a:pPr marL="0" indent="0">
              <a:buNone/>
            </a:pPr>
            <a:r>
              <a:rPr lang="en-US" sz="3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with tbSIEM?</a:t>
            </a:r>
            <a:endParaRPr lang="en-US" sz="3500" dirty="0">
              <a:solidFill>
                <a:srgbClr val="0A1628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365760" y="19379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most advanced SOC-in-a-Box which is recognized by Gartner, trusted by Government PSUs, built for regulated industries.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320040" y="269748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57200" y="28163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Request a Demo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457200" y="324612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tbSIEM live | 30 min tailored to your environment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246120" y="269748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383280" y="28163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Proposal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3383280" y="324612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Fixed-cost pricing with no EPS-based escalation surprises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548569E-CD08-5672-95CB-D61BCB665422}"/>
              </a:ext>
            </a:extLst>
          </p:cNvPr>
          <p:cNvGrpSpPr/>
          <p:nvPr/>
        </p:nvGrpSpPr>
        <p:grpSpPr>
          <a:xfrm>
            <a:off x="6169250" y="2666508"/>
            <a:ext cx="2697480" cy="1508760"/>
            <a:chOff x="6172200" y="2697480"/>
            <a:chExt cx="2697480" cy="1508760"/>
          </a:xfrm>
        </p:grpSpPr>
        <p:sp>
          <p:nvSpPr>
            <p:cNvPr id="52" name="Shape 50"/>
            <p:cNvSpPr/>
            <p:nvPr/>
          </p:nvSpPr>
          <p:spPr>
            <a:xfrm>
              <a:off x="6172200" y="2697480"/>
              <a:ext cx="2697480" cy="1508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 51"/>
            <p:cNvSpPr/>
            <p:nvPr/>
          </p:nvSpPr>
          <p:spPr>
            <a:xfrm>
              <a:off x="6309360" y="2816352"/>
              <a:ext cx="24231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48CAE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Talk to an Expert</a:t>
              </a:r>
              <a:endParaRPr lang="en-US" sz="20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6309360" y="3246120"/>
              <a:ext cx="242316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IN" sz="1400" dirty="0">
                  <a:solidFill>
                    <a:srgbClr val="0A1628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+91-124-4002096 </a:t>
              </a:r>
              <a:r>
                <a:rPr lang="en-US" sz="1400" dirty="0">
                  <a:solidFill>
                    <a:srgbClr val="0A162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| </a:t>
              </a:r>
              <a:r>
                <a:rPr lang="en-IN" sz="1400" dirty="0">
                  <a:solidFill>
                    <a:srgbClr val="0A162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support@tech-bridge.biz</a:t>
              </a:r>
              <a:r>
                <a:rPr lang="en-IN" sz="1400" dirty="0">
                  <a:solidFill>
                    <a:srgbClr val="0A162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400" dirty="0">
                <a:solidFill>
                  <a:srgbClr val="0A1628"/>
                </a:solidFill>
              </a:endParaRPr>
            </a:p>
          </p:txBody>
        </p:sp>
      </p:grpSp>
      <p:sp>
        <p:nvSpPr>
          <p:cNvPr id="55" name="Shape 53"/>
          <p:cNvSpPr/>
          <p:nvPr/>
        </p:nvSpPr>
        <p:spPr>
          <a:xfrm>
            <a:off x="320040" y="4370832"/>
            <a:ext cx="8503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57200" y="44256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Certified  •  CMMI Level 3  •  NCoE / DSCI Incubated  •  TDB/MeITy Recognized  •  Gartner Featured 2025</a:t>
            </a:r>
            <a:endParaRPr lang="en-US" sz="90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7932DF7-F435-C1DA-1E80-FA06A52FBF39}"/>
              </a:ext>
            </a:extLst>
          </p:cNvPr>
          <p:cNvGrpSpPr/>
          <p:nvPr/>
        </p:nvGrpSpPr>
        <p:grpSpPr>
          <a:xfrm>
            <a:off x="0" y="4892040"/>
            <a:ext cx="9144000" cy="251460"/>
            <a:chOff x="0" y="4892040"/>
            <a:chExt cx="9144000" cy="251460"/>
          </a:xfrm>
        </p:grpSpPr>
        <p:sp>
          <p:nvSpPr>
            <p:cNvPr id="62" name="Shape 58">
              <a:extLst>
                <a:ext uri="{FF2B5EF4-FFF2-40B4-BE49-F238E27FC236}">
                  <a16:creationId xmlns:a16="http://schemas.microsoft.com/office/drawing/2014/main" id="{7ED091E8-AB84-A81F-B252-B3C3E718DF3B}"/>
                </a:ext>
              </a:extLst>
            </p:cNvPr>
            <p:cNvSpPr/>
            <p:nvPr/>
          </p:nvSpPr>
          <p:spPr>
            <a:xfrm>
              <a:off x="0" y="4892040"/>
              <a:ext cx="9144000" cy="251460"/>
            </a:xfrm>
            <a:prstGeom prst="rect">
              <a:avLst/>
            </a:prstGeom>
            <a:solidFill>
              <a:srgbClr val="112240"/>
            </a:solidFill>
            <a:ln w="12700">
              <a:solidFill>
                <a:srgbClr val="112240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3" name="Text 59">
              <a:extLst>
                <a:ext uri="{FF2B5EF4-FFF2-40B4-BE49-F238E27FC236}">
                  <a16:creationId xmlns:a16="http://schemas.microsoft.com/office/drawing/2014/main" id="{F3D4F80C-911E-D6CC-EAA5-3E4E24D61858}"/>
                </a:ext>
              </a:extLst>
            </p:cNvPr>
            <p:cNvSpPr/>
            <p:nvPr/>
          </p:nvSpPr>
          <p:spPr>
            <a:xfrm>
              <a:off x="365760" y="4910328"/>
              <a:ext cx="8229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IN" sz="800" dirty="0">
                  <a:solidFill>
                    <a:srgbClr val="69829B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https://tech-bridge.biz/</a:t>
              </a:r>
              <a:r>
                <a:rPr lang="en-IN" sz="800" dirty="0">
                  <a:solidFill>
                    <a:srgbClr val="69829B"/>
                  </a:solidFill>
                </a:rPr>
                <a:t> </a:t>
              </a:r>
              <a:r>
                <a:rPr lang="en-US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|  </a:t>
              </a:r>
              <a:r>
                <a:rPr lang="en-IN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support@tech-bridge</a:t>
              </a:r>
              <a:r>
                <a:rPr lang="en-IN" sz="800" u="sng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.biz</a:t>
              </a:r>
              <a:r>
                <a:rPr lang="en-IN" sz="800" u="sng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800" dirty="0">
                  <a:solidFill>
                    <a:srgbClr val="6982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|  </a:t>
              </a:r>
              <a:r>
                <a:rPr lang="en-IN" sz="800" dirty="0">
                  <a:solidFill>
                    <a:srgbClr val="69829B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+91-124-4002096</a:t>
              </a:r>
              <a:endParaRPr lang="en-US" sz="800" dirty="0">
                <a:solidFill>
                  <a:srgbClr val="69829B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86</TotalTime>
  <Words>870</Words>
  <Application>Microsoft Office PowerPoint</Application>
  <PresentationFormat>On-screen Show (16:9)</PresentationFormat>
  <Paragraphs>154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tbSIEM – Overview &amp; Value Proposition</dc:title>
  <dc:subject>PptxGenJS Presentation</dc:subject>
  <dc:creator>PptxGenJS</dc:creator>
  <cp:lastModifiedBy>sanjana kharbanda</cp:lastModifiedBy>
  <cp:revision>6</cp:revision>
  <dcterms:created xsi:type="dcterms:W3CDTF">2026-04-11T06:01:50Z</dcterms:created>
  <dcterms:modified xsi:type="dcterms:W3CDTF">2026-04-11T10:04:31Z</dcterms:modified>
</cp:coreProperties>
</file>